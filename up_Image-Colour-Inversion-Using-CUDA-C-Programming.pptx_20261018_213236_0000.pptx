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mo" charset="1" panose="020B0604020202020204"/>
      <p:regular r:id="rId15"/>
    </p:embeddedFont>
    <p:embeddedFont>
      <p:font typeface="Arimo Bold" charset="1" panose="020B0704020202020204"/>
      <p:regular r:id="rId16"/>
    </p:embeddedFont>
    <p:embeddedFont>
      <p:font typeface="Consolas" charset="1" panose="020B0609020204030204"/>
      <p:regular r:id="rId18"/>
    </p:embeddedFont>
    <p:embeddedFont>
      <p:font typeface="HK Grotesk Medium" charset="1" panose="000006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pn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3283D">
                <a:alpha val="26667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1864833"/>
            <a:ext cx="17386744" cy="35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576" spc="9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CUDA C · MEDICAL IMAGE 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2661799"/>
            <a:ext cx="16471659" cy="406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64"/>
              </a:lnSpc>
            </a:pPr>
            <a:r>
              <a:rPr lang="en-US" sz="11108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Image Colour Inversion</a:t>
            </a:r>
          </a:p>
          <a:p>
            <a:pPr algn="l">
              <a:lnSpc>
                <a:spcPts val="11064"/>
              </a:lnSpc>
            </a:pPr>
            <a:r>
              <a:rPr lang="en-US" sz="11108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Using CUDA C Programming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6922932"/>
            <a:ext cx="16471659" cy="82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Parallel implementation of image inversion and pseudocolour mapping for medical radiology.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7909598"/>
            <a:ext cx="17386744" cy="46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Every pixel, its own thread: turning grayscale X-rays into enhanced colour views in parallel.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61536"/>
            <a:ext cx="17386744" cy="35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576" spc="94">
                <a:solidFill>
                  <a:srgbClr val="A8380F"/>
                </a:solidFill>
                <a:latin typeface="Arimo"/>
                <a:ea typeface="Arimo"/>
                <a:cs typeface="Arimo"/>
                <a:sym typeface="Arimo"/>
              </a:rPr>
              <a:t>THE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34151"/>
            <a:ext cx="16471659" cy="96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5"/>
              </a:lnSpc>
            </a:pPr>
            <a:r>
              <a:rPr lang="en-US" sz="7205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What problem does this project solve?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95" y="2693803"/>
            <a:ext cx="16471659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It turns grayscale intensity into visual contrast that is easier to inspect.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5095" y="3327721"/>
            <a:ext cx="8235829" cy="3369269"/>
            <a:chOff x="0" y="0"/>
            <a:chExt cx="10981106" cy="4492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81055" cy="4492371"/>
            </a:xfrm>
            <a:custGeom>
              <a:avLst/>
              <a:gdLst/>
              <a:ahLst/>
              <a:cxnLst/>
              <a:rect r="r" b="b" t="t" l="l"/>
              <a:pathLst>
                <a:path h="4492371" w="10981055">
                  <a:moveTo>
                    <a:pt x="124587" y="0"/>
                  </a:moveTo>
                  <a:lnTo>
                    <a:pt x="10981055" y="0"/>
                  </a:lnTo>
                  <a:lnTo>
                    <a:pt x="10981055" y="4492371"/>
                  </a:lnTo>
                  <a:lnTo>
                    <a:pt x="0" y="4492371"/>
                  </a:lnTo>
                  <a:lnTo>
                    <a:pt x="0" y="124587"/>
                  </a:lnTo>
                  <a:cubicBezTo>
                    <a:pt x="0" y="55753"/>
                    <a:pt x="55753" y="0"/>
                    <a:pt x="124587" y="0"/>
                  </a:cubicBezTo>
                  <a:close/>
                </a:path>
              </a:pathLst>
            </a:custGeom>
            <a:solidFill>
              <a:srgbClr val="D6DDE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53490" y="3666115"/>
            <a:ext cx="829304" cy="829323"/>
            <a:chOff x="0" y="0"/>
            <a:chExt cx="1105738" cy="11057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5662" cy="1105662"/>
            </a:xfrm>
            <a:custGeom>
              <a:avLst/>
              <a:gdLst/>
              <a:ahLst/>
              <a:cxnLst/>
              <a:rect r="r" b="b" t="t" l="l"/>
              <a:pathLst>
                <a:path h="1105662" w="1105662">
                  <a:moveTo>
                    <a:pt x="0" y="107950"/>
                  </a:moveTo>
                  <a:cubicBezTo>
                    <a:pt x="0" y="48387"/>
                    <a:pt x="48387" y="0"/>
                    <a:pt x="107950" y="0"/>
                  </a:cubicBezTo>
                  <a:lnTo>
                    <a:pt x="997712" y="0"/>
                  </a:lnTo>
                  <a:cubicBezTo>
                    <a:pt x="1057402" y="0"/>
                    <a:pt x="1105662" y="48387"/>
                    <a:pt x="1105662" y="107950"/>
                  </a:cubicBezTo>
                  <a:lnTo>
                    <a:pt x="1105662" y="997712"/>
                  </a:lnTo>
                  <a:cubicBezTo>
                    <a:pt x="1105662" y="1057402"/>
                    <a:pt x="1057275" y="1105662"/>
                    <a:pt x="997712" y="1105662"/>
                  </a:cubicBezTo>
                  <a:lnTo>
                    <a:pt x="107950" y="1105662"/>
                  </a:lnTo>
                  <a:cubicBezTo>
                    <a:pt x="48260" y="1105662"/>
                    <a:pt x="0" y="1057275"/>
                    <a:pt x="0" y="997712"/>
                  </a:cubicBezTo>
                  <a:close/>
                </a:path>
              </a:pathLst>
            </a:custGeom>
            <a:solidFill>
              <a:srgbClr val="FF9466"/>
            </a:solidFill>
            <a:ln w="9532" cap="sq">
              <a:solidFill>
                <a:srgbClr val="BCC3C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67964" y="3880599"/>
            <a:ext cx="400355" cy="400364"/>
            <a:chOff x="0" y="0"/>
            <a:chExt cx="533806" cy="533819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533781" cy="533781"/>
            </a:xfrm>
            <a:custGeom>
              <a:avLst/>
              <a:gdLst/>
              <a:ahLst/>
              <a:cxnLst/>
              <a:rect r="r" b="b" t="t" l="l"/>
              <a:pathLst>
                <a:path h="533781" w="533781">
                  <a:moveTo>
                    <a:pt x="0" y="0"/>
                  </a:moveTo>
                  <a:lnTo>
                    <a:pt x="533781" y="0"/>
                  </a:lnTo>
                  <a:lnTo>
                    <a:pt x="533781" y="533781"/>
                  </a:lnTo>
                  <a:lnTo>
                    <a:pt x="0" y="533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5" b="-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58252" y="4719447"/>
            <a:ext cx="7549505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Grayscale input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8252" y="5286689"/>
            <a:ext cx="7892672" cy="46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X-rays store intensity from 0 = black to 255 = white.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50925" y="3327721"/>
            <a:ext cx="8235829" cy="3369269"/>
            <a:chOff x="0" y="0"/>
            <a:chExt cx="10981106" cy="4492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81182" cy="4492371"/>
            </a:xfrm>
            <a:custGeom>
              <a:avLst/>
              <a:gdLst/>
              <a:ahLst/>
              <a:cxnLst/>
              <a:rect r="r" b="b" t="t" l="l"/>
              <a:pathLst>
                <a:path h="4492371" w="10981182">
                  <a:moveTo>
                    <a:pt x="0" y="0"/>
                  </a:moveTo>
                  <a:lnTo>
                    <a:pt x="10856595" y="0"/>
                  </a:lnTo>
                  <a:cubicBezTo>
                    <a:pt x="10925428" y="0"/>
                    <a:pt x="10981182" y="55753"/>
                    <a:pt x="10981182" y="124587"/>
                  </a:cubicBezTo>
                  <a:lnTo>
                    <a:pt x="10981182" y="4492371"/>
                  </a:lnTo>
                  <a:lnTo>
                    <a:pt x="0" y="4492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489310" y="3666115"/>
            <a:ext cx="829304" cy="829323"/>
            <a:chOff x="0" y="0"/>
            <a:chExt cx="1105738" cy="11057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5662" cy="1105662"/>
            </a:xfrm>
            <a:custGeom>
              <a:avLst/>
              <a:gdLst/>
              <a:ahLst/>
              <a:cxnLst/>
              <a:rect r="r" b="b" t="t" l="l"/>
              <a:pathLst>
                <a:path h="1105662" w="1105662">
                  <a:moveTo>
                    <a:pt x="0" y="107950"/>
                  </a:moveTo>
                  <a:cubicBezTo>
                    <a:pt x="0" y="48387"/>
                    <a:pt x="48387" y="0"/>
                    <a:pt x="107950" y="0"/>
                  </a:cubicBezTo>
                  <a:lnTo>
                    <a:pt x="997712" y="0"/>
                  </a:lnTo>
                  <a:cubicBezTo>
                    <a:pt x="1057402" y="0"/>
                    <a:pt x="1105662" y="48387"/>
                    <a:pt x="1105662" y="107950"/>
                  </a:cubicBezTo>
                  <a:lnTo>
                    <a:pt x="1105662" y="997712"/>
                  </a:lnTo>
                  <a:cubicBezTo>
                    <a:pt x="1105662" y="1057402"/>
                    <a:pt x="1057275" y="1105662"/>
                    <a:pt x="997712" y="1105662"/>
                  </a:cubicBezTo>
                  <a:lnTo>
                    <a:pt x="107950" y="1105662"/>
                  </a:lnTo>
                  <a:cubicBezTo>
                    <a:pt x="48260" y="1105662"/>
                    <a:pt x="0" y="1057275"/>
                    <a:pt x="0" y="997712"/>
                  </a:cubicBezTo>
                  <a:close/>
                </a:path>
              </a:pathLst>
            </a:custGeom>
            <a:solidFill>
              <a:srgbClr val="FF9466"/>
            </a:solidFill>
            <a:ln w="9532" cap="sq">
              <a:solidFill>
                <a:srgbClr val="BCC3C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703784" y="3880599"/>
            <a:ext cx="400355" cy="400364"/>
            <a:chOff x="0" y="0"/>
            <a:chExt cx="533806" cy="53381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533781" cy="533781"/>
            </a:xfrm>
            <a:custGeom>
              <a:avLst/>
              <a:gdLst/>
              <a:ahLst/>
              <a:cxnLst/>
              <a:rect r="r" b="b" t="t" l="l"/>
              <a:pathLst>
                <a:path h="533781" w="533781">
                  <a:moveTo>
                    <a:pt x="0" y="0"/>
                  </a:moveTo>
                  <a:lnTo>
                    <a:pt x="533781" y="0"/>
                  </a:lnTo>
                  <a:lnTo>
                    <a:pt x="533781" y="533781"/>
                  </a:lnTo>
                  <a:lnTo>
                    <a:pt x="0" y="533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5" b="-7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494082" y="4719447"/>
            <a:ext cx="7549505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Invert intensity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94082" y="5286689"/>
            <a:ext cx="7892672" cy="46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Each pixel becomes </a:t>
            </a:r>
            <a:r>
              <a:rPr lang="en-US" sz="2101" b="true">
                <a:solidFill>
                  <a:srgbClr val="545D6B"/>
                </a:solidFill>
                <a:latin typeface="Arimo Bold"/>
                <a:ea typeface="Arimo Bold"/>
                <a:cs typeface="Arimo Bold"/>
                <a:sym typeface="Arimo Bold"/>
              </a:rPr>
              <a:t>255 - input</a:t>
            </a: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5095" y="6696989"/>
            <a:ext cx="8235829" cy="3369269"/>
            <a:chOff x="0" y="0"/>
            <a:chExt cx="10981106" cy="44923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81055" cy="4492371"/>
            </a:xfrm>
            <a:custGeom>
              <a:avLst/>
              <a:gdLst/>
              <a:ahLst/>
              <a:cxnLst/>
              <a:rect r="r" b="b" t="t" l="l"/>
              <a:pathLst>
                <a:path h="4492371" w="10981055">
                  <a:moveTo>
                    <a:pt x="0" y="0"/>
                  </a:moveTo>
                  <a:lnTo>
                    <a:pt x="10981055" y="0"/>
                  </a:lnTo>
                  <a:lnTo>
                    <a:pt x="10981055" y="4492371"/>
                  </a:lnTo>
                  <a:lnTo>
                    <a:pt x="124587" y="4492371"/>
                  </a:lnTo>
                  <a:cubicBezTo>
                    <a:pt x="55753" y="4492371"/>
                    <a:pt x="0" y="4436618"/>
                    <a:pt x="0" y="43677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DE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53490" y="7035394"/>
            <a:ext cx="829304" cy="829323"/>
            <a:chOff x="0" y="0"/>
            <a:chExt cx="1105738" cy="11057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5662" cy="1105662"/>
            </a:xfrm>
            <a:custGeom>
              <a:avLst/>
              <a:gdLst/>
              <a:ahLst/>
              <a:cxnLst/>
              <a:rect r="r" b="b" t="t" l="l"/>
              <a:pathLst>
                <a:path h="1105662" w="1105662">
                  <a:moveTo>
                    <a:pt x="0" y="107950"/>
                  </a:moveTo>
                  <a:cubicBezTo>
                    <a:pt x="0" y="48387"/>
                    <a:pt x="48387" y="0"/>
                    <a:pt x="107950" y="0"/>
                  </a:cubicBezTo>
                  <a:lnTo>
                    <a:pt x="997712" y="0"/>
                  </a:lnTo>
                  <a:cubicBezTo>
                    <a:pt x="1057402" y="0"/>
                    <a:pt x="1105662" y="48387"/>
                    <a:pt x="1105662" y="107950"/>
                  </a:cubicBezTo>
                  <a:lnTo>
                    <a:pt x="1105662" y="997712"/>
                  </a:lnTo>
                  <a:cubicBezTo>
                    <a:pt x="1105662" y="1057402"/>
                    <a:pt x="1057275" y="1105662"/>
                    <a:pt x="997712" y="1105662"/>
                  </a:cubicBezTo>
                  <a:lnTo>
                    <a:pt x="107950" y="1105662"/>
                  </a:lnTo>
                  <a:cubicBezTo>
                    <a:pt x="48260" y="1105662"/>
                    <a:pt x="0" y="1057275"/>
                    <a:pt x="0" y="997712"/>
                  </a:cubicBezTo>
                  <a:close/>
                </a:path>
              </a:pathLst>
            </a:custGeom>
            <a:solidFill>
              <a:srgbClr val="FF9466"/>
            </a:solidFill>
            <a:ln w="9532" cap="sq">
              <a:solidFill>
                <a:srgbClr val="BCC3CE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467964" y="7249878"/>
            <a:ext cx="400355" cy="400364"/>
            <a:chOff x="0" y="0"/>
            <a:chExt cx="533806" cy="533819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533781" cy="533781"/>
            </a:xfrm>
            <a:custGeom>
              <a:avLst/>
              <a:gdLst/>
              <a:ahLst/>
              <a:cxnLst/>
              <a:rect r="r" b="b" t="t" l="l"/>
              <a:pathLst>
                <a:path h="533781" w="533781">
                  <a:moveTo>
                    <a:pt x="0" y="0"/>
                  </a:moveTo>
                  <a:lnTo>
                    <a:pt x="533781" y="0"/>
                  </a:lnTo>
                  <a:lnTo>
                    <a:pt x="533781" y="533781"/>
                  </a:lnTo>
                  <a:lnTo>
                    <a:pt x="0" y="533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5" b="-7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58252" y="8088725"/>
            <a:ext cx="7549505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Pseudocolour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8252" y="8655958"/>
            <a:ext cx="7892672" cy="46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Intensity values map into RGB colours to reveal differences.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150925" y="6696989"/>
            <a:ext cx="8235829" cy="3369269"/>
            <a:chOff x="0" y="0"/>
            <a:chExt cx="10981106" cy="449235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81055" cy="4492371"/>
            </a:xfrm>
            <a:custGeom>
              <a:avLst/>
              <a:gdLst/>
              <a:ahLst/>
              <a:cxnLst/>
              <a:rect r="r" b="b" t="t" l="l"/>
              <a:pathLst>
                <a:path h="4492371" w="10981055">
                  <a:moveTo>
                    <a:pt x="0" y="0"/>
                  </a:moveTo>
                  <a:lnTo>
                    <a:pt x="10981055" y="0"/>
                  </a:lnTo>
                  <a:lnTo>
                    <a:pt x="10981055" y="4367784"/>
                  </a:lnTo>
                  <a:cubicBezTo>
                    <a:pt x="10981055" y="4436618"/>
                    <a:pt x="10925302" y="4492371"/>
                    <a:pt x="10856468" y="4492371"/>
                  </a:cubicBezTo>
                  <a:lnTo>
                    <a:pt x="0" y="4492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489310" y="7106888"/>
            <a:ext cx="476612" cy="476621"/>
            <a:chOff x="0" y="0"/>
            <a:chExt cx="635483" cy="63549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5508" cy="635508"/>
            </a:xfrm>
            <a:custGeom>
              <a:avLst/>
              <a:gdLst/>
              <a:ahLst/>
              <a:cxnLst/>
              <a:rect r="r" b="b" t="t" l="l"/>
              <a:pathLst>
                <a:path h="635508" w="635508">
                  <a:moveTo>
                    <a:pt x="0" y="108966"/>
                  </a:moveTo>
                  <a:cubicBezTo>
                    <a:pt x="0" y="48768"/>
                    <a:pt x="48768" y="0"/>
                    <a:pt x="108966" y="0"/>
                  </a:cubicBezTo>
                  <a:lnTo>
                    <a:pt x="526542" y="0"/>
                  </a:lnTo>
                  <a:cubicBezTo>
                    <a:pt x="586740" y="0"/>
                    <a:pt x="635508" y="48768"/>
                    <a:pt x="635508" y="108966"/>
                  </a:cubicBezTo>
                  <a:lnTo>
                    <a:pt x="635508" y="526542"/>
                  </a:lnTo>
                  <a:cubicBezTo>
                    <a:pt x="635508" y="586740"/>
                    <a:pt x="586740" y="635508"/>
                    <a:pt x="526542" y="635508"/>
                  </a:cubicBezTo>
                  <a:lnTo>
                    <a:pt x="108966" y="635508"/>
                  </a:lnTo>
                  <a:cubicBezTo>
                    <a:pt x="48768" y="635508"/>
                    <a:pt x="0" y="586740"/>
                    <a:pt x="0" y="526542"/>
                  </a:cubicBezTo>
                  <a:close/>
                </a:path>
              </a:pathLst>
            </a:custGeom>
            <a:solidFill>
              <a:srgbClr val="FF9466"/>
            </a:solidFill>
            <a:ln w="9532" cap="sq">
              <a:solidFill>
                <a:srgbClr val="BCC3CE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9494082" y="7807519"/>
            <a:ext cx="7549505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CUDA workflow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94082" y="8336651"/>
            <a:ext cx="7549505" cy="905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Consolas"/>
                <a:ea typeface="Consolas"/>
                <a:cs typeface="Consolas"/>
                <a:sym typeface="Consolas"/>
              </a:rPr>
              <a:t>cudaMalloc(), cudaMemcpy(), cudaFree(), cudaEventRecord(), and cudaEventSynchronize().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41390" y="3327721"/>
            <a:ext cx="19069" cy="3369269"/>
            <a:chOff x="0" y="0"/>
            <a:chExt cx="25425" cy="44923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400" cy="4492371"/>
            </a:xfrm>
            <a:custGeom>
              <a:avLst/>
              <a:gdLst/>
              <a:ahLst/>
              <a:cxnLst/>
              <a:rect r="r" b="b" t="t" l="l"/>
              <a:pathLst>
                <a:path h="4492371" w="25400">
                  <a:moveTo>
                    <a:pt x="0" y="0"/>
                  </a:moveTo>
                  <a:lnTo>
                    <a:pt x="25400" y="0"/>
                  </a:lnTo>
                  <a:lnTo>
                    <a:pt x="25400" y="4492371"/>
                  </a:lnTo>
                  <a:lnTo>
                    <a:pt x="0" y="449237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5095" y="6687455"/>
            <a:ext cx="8235829" cy="19069"/>
            <a:chOff x="0" y="0"/>
            <a:chExt cx="10981106" cy="2542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81055" cy="25400"/>
            </a:xfrm>
            <a:custGeom>
              <a:avLst/>
              <a:gdLst/>
              <a:ahLst/>
              <a:cxnLst/>
              <a:rect r="r" b="b" t="t" l="l"/>
              <a:pathLst>
                <a:path h="25400" w="10981055">
                  <a:moveTo>
                    <a:pt x="0" y="0"/>
                  </a:moveTo>
                  <a:lnTo>
                    <a:pt x="10981055" y="0"/>
                  </a:lnTo>
                  <a:lnTo>
                    <a:pt x="1098105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141390" y="6696989"/>
            <a:ext cx="19069" cy="3369269"/>
            <a:chOff x="0" y="0"/>
            <a:chExt cx="25425" cy="449235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400" cy="4492371"/>
            </a:xfrm>
            <a:custGeom>
              <a:avLst/>
              <a:gdLst/>
              <a:ahLst/>
              <a:cxnLst/>
              <a:rect r="r" b="b" t="t" l="l"/>
              <a:pathLst>
                <a:path h="4492371" w="25400">
                  <a:moveTo>
                    <a:pt x="0" y="0"/>
                  </a:moveTo>
                  <a:lnTo>
                    <a:pt x="25400" y="0"/>
                  </a:lnTo>
                  <a:lnTo>
                    <a:pt x="25400" y="4492371"/>
                  </a:lnTo>
                  <a:lnTo>
                    <a:pt x="0" y="449237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50925" y="6687455"/>
            <a:ext cx="8235829" cy="19069"/>
            <a:chOff x="0" y="0"/>
            <a:chExt cx="10981106" cy="254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81055" cy="25400"/>
            </a:xfrm>
            <a:custGeom>
              <a:avLst/>
              <a:gdLst/>
              <a:ahLst/>
              <a:cxnLst/>
              <a:rect r="r" b="b" t="t" l="l"/>
              <a:pathLst>
                <a:path h="25400" w="10981055">
                  <a:moveTo>
                    <a:pt x="0" y="0"/>
                  </a:moveTo>
                  <a:lnTo>
                    <a:pt x="10981055" y="0"/>
                  </a:lnTo>
                  <a:lnTo>
                    <a:pt x="1098105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61536"/>
            <a:ext cx="17386744" cy="35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576" spc="94">
                <a:solidFill>
                  <a:srgbClr val="A8380F"/>
                </a:solidFill>
                <a:latin typeface="Arimo"/>
                <a:ea typeface="Arimo"/>
                <a:cs typeface="Arimo"/>
                <a:sym typeface="Arimo"/>
              </a:rPr>
              <a:t>THE TRANSFORMATION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34151"/>
            <a:ext cx="16471659" cy="96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5"/>
              </a:lnSpc>
            </a:pPr>
            <a:r>
              <a:rPr lang="en-US" sz="7205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How the image transformation works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5095" y="2698575"/>
            <a:ext cx="3774758" cy="3049343"/>
            <a:chOff x="0" y="0"/>
            <a:chExt cx="5033010" cy="40657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33010" cy="4065778"/>
            </a:xfrm>
            <a:custGeom>
              <a:avLst/>
              <a:gdLst/>
              <a:ahLst/>
              <a:cxnLst/>
              <a:rect r="r" b="b" t="t" l="l"/>
              <a:pathLst>
                <a:path h="4065778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4065778"/>
                  </a:lnTo>
                  <a:lnTo>
                    <a:pt x="0" y="4065778"/>
                  </a:lnTo>
                  <a:close/>
                </a:path>
              </a:pathLst>
            </a:custGeom>
            <a:solidFill>
              <a:srgbClr val="13283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58252" y="3079842"/>
            <a:ext cx="1206122" cy="2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8252" y="3415446"/>
            <a:ext cx="3088434" cy="28594"/>
            <a:chOff x="0" y="0"/>
            <a:chExt cx="4117912" cy="381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17975" cy="38100"/>
            </a:xfrm>
            <a:custGeom>
              <a:avLst/>
              <a:gdLst/>
              <a:ahLst/>
              <a:cxnLst/>
              <a:rect r="r" b="b" t="t" l="l"/>
              <a:pathLst>
                <a:path h="38100" w="4117975">
                  <a:moveTo>
                    <a:pt x="0" y="0"/>
                  </a:moveTo>
                  <a:lnTo>
                    <a:pt x="4117975" y="0"/>
                  </a:lnTo>
                  <a:lnTo>
                    <a:pt x="411797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9466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58252" y="3629092"/>
            <a:ext cx="3088434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8252" y="4136984"/>
            <a:ext cx="3088434" cy="126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Read the grayscale image as pixel intensity values.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47396" y="2698575"/>
            <a:ext cx="3774758" cy="3049343"/>
            <a:chOff x="0" y="0"/>
            <a:chExt cx="5033010" cy="4065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33010" cy="4065778"/>
            </a:xfrm>
            <a:custGeom>
              <a:avLst/>
              <a:gdLst/>
              <a:ahLst/>
              <a:cxnLst/>
              <a:rect r="r" b="b" t="t" l="l"/>
              <a:pathLst>
                <a:path h="4065778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4065778"/>
                  </a:lnTo>
                  <a:lnTo>
                    <a:pt x="0" y="4065778"/>
                  </a:lnTo>
                  <a:close/>
                </a:path>
              </a:pathLst>
            </a:custGeom>
            <a:solidFill>
              <a:srgbClr val="13283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490553" y="3079842"/>
            <a:ext cx="1264806" cy="2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490553" y="3415446"/>
            <a:ext cx="3088434" cy="28594"/>
            <a:chOff x="0" y="0"/>
            <a:chExt cx="4117912" cy="381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7975" cy="38100"/>
            </a:xfrm>
            <a:custGeom>
              <a:avLst/>
              <a:gdLst/>
              <a:ahLst/>
              <a:cxnLst/>
              <a:rect r="r" b="b" t="t" l="l"/>
              <a:pathLst>
                <a:path h="38100" w="4117975">
                  <a:moveTo>
                    <a:pt x="0" y="0"/>
                  </a:moveTo>
                  <a:lnTo>
                    <a:pt x="4117975" y="0"/>
                  </a:lnTo>
                  <a:lnTo>
                    <a:pt x="411797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946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490553" y="3629092"/>
            <a:ext cx="3088434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Launch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90553" y="4136984"/>
            <a:ext cx="3088434" cy="126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Launch a CUDA kernel so threads process pixels independently.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79696" y="2698575"/>
            <a:ext cx="3774758" cy="3049343"/>
            <a:chOff x="0" y="0"/>
            <a:chExt cx="5033010" cy="40657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33010" cy="4065778"/>
            </a:xfrm>
            <a:custGeom>
              <a:avLst/>
              <a:gdLst/>
              <a:ahLst/>
              <a:cxnLst/>
              <a:rect r="r" b="b" t="t" l="l"/>
              <a:pathLst>
                <a:path h="4065778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4065778"/>
                  </a:lnTo>
                  <a:lnTo>
                    <a:pt x="0" y="4065778"/>
                  </a:lnTo>
                  <a:close/>
                </a:path>
              </a:pathLst>
            </a:custGeom>
            <a:solidFill>
              <a:srgbClr val="13283D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22853" y="3079842"/>
            <a:ext cx="1265844" cy="2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22853" y="3415446"/>
            <a:ext cx="3088434" cy="28594"/>
            <a:chOff x="0" y="0"/>
            <a:chExt cx="4117912" cy="381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17975" cy="38100"/>
            </a:xfrm>
            <a:custGeom>
              <a:avLst/>
              <a:gdLst/>
              <a:ahLst/>
              <a:cxnLst/>
              <a:rect r="r" b="b" t="t" l="l"/>
              <a:pathLst>
                <a:path h="38100" w="4117975">
                  <a:moveTo>
                    <a:pt x="0" y="0"/>
                  </a:moveTo>
                  <a:lnTo>
                    <a:pt x="4117975" y="0"/>
                  </a:lnTo>
                  <a:lnTo>
                    <a:pt x="411797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9466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722853" y="3629092"/>
            <a:ext cx="3088434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Transform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22853" y="4136984"/>
            <a:ext cx="3088434" cy="126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Create inverted and pseudocolor outputs from the same input.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611997" y="2698575"/>
            <a:ext cx="3774758" cy="3049343"/>
            <a:chOff x="0" y="0"/>
            <a:chExt cx="5033010" cy="40657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33010" cy="4065778"/>
            </a:xfrm>
            <a:custGeom>
              <a:avLst/>
              <a:gdLst/>
              <a:ahLst/>
              <a:cxnLst/>
              <a:rect r="r" b="b" t="t" l="l"/>
              <a:pathLst>
                <a:path h="4065778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4065778"/>
                  </a:lnTo>
                  <a:lnTo>
                    <a:pt x="0" y="4065778"/>
                  </a:lnTo>
                  <a:close/>
                </a:path>
              </a:pathLst>
            </a:custGeom>
            <a:solidFill>
              <a:srgbClr val="13283D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955154" y="3079842"/>
            <a:ext cx="1283275" cy="2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955154" y="3415446"/>
            <a:ext cx="3088434" cy="28594"/>
            <a:chOff x="0" y="0"/>
            <a:chExt cx="4117912" cy="381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17975" cy="38100"/>
            </a:xfrm>
            <a:custGeom>
              <a:avLst/>
              <a:gdLst/>
              <a:ahLst/>
              <a:cxnLst/>
              <a:rect r="r" b="b" t="t" l="l"/>
              <a:pathLst>
                <a:path h="38100" w="4117975">
                  <a:moveTo>
                    <a:pt x="0" y="0"/>
                  </a:moveTo>
                  <a:lnTo>
                    <a:pt x="4117975" y="0"/>
                  </a:lnTo>
                  <a:lnTo>
                    <a:pt x="411797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946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955154" y="3629092"/>
            <a:ext cx="3088434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Compare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55154" y="4136984"/>
            <a:ext cx="3088434" cy="126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Save multiple visualizations for side-by-side comparison.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15095" y="6052957"/>
            <a:ext cx="8007058" cy="2187692"/>
            <a:chOff x="0" y="0"/>
            <a:chExt cx="10676077" cy="291692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76127" cy="2916936"/>
            </a:xfrm>
            <a:custGeom>
              <a:avLst/>
              <a:gdLst/>
              <a:ahLst/>
              <a:cxnLst/>
              <a:rect r="r" b="b" t="t" l="l"/>
              <a:pathLst>
                <a:path h="2916936" w="10676127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10526649" y="0"/>
                  </a:lnTo>
                  <a:cubicBezTo>
                    <a:pt x="10609199" y="0"/>
                    <a:pt x="10676127" y="66929"/>
                    <a:pt x="10676127" y="149479"/>
                  </a:cubicBezTo>
                  <a:lnTo>
                    <a:pt x="10676127" y="2767457"/>
                  </a:lnTo>
                  <a:cubicBezTo>
                    <a:pt x="10676127" y="2850007"/>
                    <a:pt x="10609199" y="2916936"/>
                    <a:pt x="10526649" y="2916936"/>
                  </a:cubicBezTo>
                  <a:lnTo>
                    <a:pt x="149479" y="2916936"/>
                  </a:lnTo>
                  <a:cubicBezTo>
                    <a:pt x="66929" y="2916936"/>
                    <a:pt x="0" y="2850007"/>
                    <a:pt x="0" y="2767457"/>
                  </a:cubicBezTo>
                  <a:close/>
                </a:path>
              </a:pathLst>
            </a:custGeom>
            <a:solidFill>
              <a:srgbClr val="DDE0E5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58252" y="6342545"/>
            <a:ext cx="7663891" cy="35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576" spc="94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CPU LOOP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8252" y="6863210"/>
            <a:ext cx="7320734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545D6B"/>
                </a:solidFill>
                <a:latin typeface="Arimo Bold"/>
                <a:ea typeface="Arimo Bold"/>
                <a:cs typeface="Arimo Bold"/>
                <a:sym typeface="Arimo Bold"/>
              </a:rPr>
              <a:t>One pixel after another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8252" y="7430443"/>
            <a:ext cx="7663891" cy="46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Pixels are handled sequentially.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379696" y="6052957"/>
            <a:ext cx="8007058" cy="2187692"/>
            <a:chOff x="0" y="0"/>
            <a:chExt cx="10676077" cy="291692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76128" cy="2916936"/>
            </a:xfrm>
            <a:custGeom>
              <a:avLst/>
              <a:gdLst/>
              <a:ahLst/>
              <a:cxnLst/>
              <a:rect r="r" b="b" t="t" l="l"/>
              <a:pathLst>
                <a:path h="2916936" w="10676128">
                  <a:moveTo>
                    <a:pt x="0" y="0"/>
                  </a:moveTo>
                  <a:lnTo>
                    <a:pt x="10676128" y="0"/>
                  </a:lnTo>
                  <a:lnTo>
                    <a:pt x="10676128" y="2916936"/>
                  </a:lnTo>
                  <a:lnTo>
                    <a:pt x="0" y="2916936"/>
                  </a:lnTo>
                  <a:close/>
                </a:path>
              </a:pathLst>
            </a:custGeom>
            <a:solidFill>
              <a:srgbClr val="13283D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722853" y="6342545"/>
            <a:ext cx="7663891" cy="35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576" spc="9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GPU KERNEL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22853" y="6863210"/>
            <a:ext cx="7320734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Many pixels at once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22853" y="7430443"/>
            <a:ext cx="7663891" cy="46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Independent pixels are processed in parallel.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61536"/>
            <a:ext cx="17386744" cy="35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576" spc="94">
                <a:solidFill>
                  <a:srgbClr val="A8380F"/>
                </a:solidFill>
                <a:latin typeface="Arimo"/>
                <a:ea typeface="Arimo"/>
                <a:cs typeface="Arimo"/>
                <a:sym typeface="Arimo"/>
              </a:rPr>
              <a:t>WHY CUDA 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34151"/>
            <a:ext cx="16471659" cy="96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5"/>
              </a:lnSpc>
            </a:pPr>
            <a:r>
              <a:rPr lang="en-US" sz="7205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Why CUDA C is useful here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95" y="2693803"/>
            <a:ext cx="16471659" cy="82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Each pixel in a medical image, such as a chest X-ray, holds brightness from 0 (black) to 255 (white). CUDA gives each pixel its own GPU thread.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5095" y="3747145"/>
            <a:ext cx="7892672" cy="2934948"/>
            <a:chOff x="0" y="0"/>
            <a:chExt cx="10523563" cy="39132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23601" cy="3913251"/>
            </a:xfrm>
            <a:custGeom>
              <a:avLst/>
              <a:gdLst/>
              <a:ahLst/>
              <a:cxnLst/>
              <a:rect r="r" b="b" t="t" l="l"/>
              <a:pathLst>
                <a:path h="3913251" w="10523601">
                  <a:moveTo>
                    <a:pt x="0" y="0"/>
                  </a:moveTo>
                  <a:lnTo>
                    <a:pt x="10523601" y="0"/>
                  </a:lnTo>
                  <a:lnTo>
                    <a:pt x="10523601" y="3913251"/>
                  </a:lnTo>
                  <a:lnTo>
                    <a:pt x="0" y="3913251"/>
                  </a:lnTo>
                  <a:close/>
                </a:path>
              </a:pathLst>
            </a:custGeom>
            <a:solidFill>
              <a:srgbClr val="13283D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58252" y="4036743"/>
            <a:ext cx="7549505" cy="35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576" spc="9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SERIAL CPU 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8252" y="4577544"/>
            <a:ext cx="7206348" cy="65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4803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One by 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8252" y="5471531"/>
            <a:ext cx="7206348" cy="86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Inversion and colourization wait for each pixel to finish before the next begins.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94082" y="3747145"/>
            <a:ext cx="7892672" cy="2934948"/>
            <a:chOff x="0" y="0"/>
            <a:chExt cx="10523563" cy="39132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23601" cy="3913251"/>
            </a:xfrm>
            <a:custGeom>
              <a:avLst/>
              <a:gdLst/>
              <a:ahLst/>
              <a:cxnLst/>
              <a:rect r="r" b="b" t="t" l="l"/>
              <a:pathLst>
                <a:path h="3913251" w="10523601">
                  <a:moveTo>
                    <a:pt x="0" y="0"/>
                  </a:moveTo>
                  <a:lnTo>
                    <a:pt x="10523601" y="0"/>
                  </a:lnTo>
                  <a:lnTo>
                    <a:pt x="10523601" y="3913251"/>
                  </a:lnTo>
                  <a:lnTo>
                    <a:pt x="0" y="3913251"/>
                  </a:lnTo>
                  <a:close/>
                </a:path>
              </a:pathLst>
            </a:custGeom>
            <a:solidFill>
              <a:srgbClr val="13283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837239" y="4036743"/>
            <a:ext cx="7549505" cy="35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576" spc="9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PARALLEL GPU 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37239" y="4577544"/>
            <a:ext cx="7206348" cy="65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4803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All together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37239" y="5471531"/>
            <a:ext cx="7206348" cy="86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Independent pixels are processed simultaneously across the image.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5095" y="7012067"/>
            <a:ext cx="5185524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Invert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5095" y="7519959"/>
            <a:ext cx="5185524" cy="46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 b="true">
                <a:solidFill>
                  <a:srgbClr val="545D6B"/>
                </a:solidFill>
                <a:latin typeface="Arimo Bold"/>
                <a:ea typeface="Arimo Bold"/>
                <a:cs typeface="Arimo Bold"/>
                <a:sym typeface="Arimo Bold"/>
              </a:rPr>
              <a:t>255 - input</a:t>
            </a: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 creates a negative view.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58163" y="7012067"/>
            <a:ext cx="5185524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Colorize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58163" y="7519959"/>
            <a:ext cx="5185524" cy="86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Turn brightness into a blue → green → red heatmap.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01230" y="7012067"/>
            <a:ext cx="5185524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Combine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01230" y="7519959"/>
            <a:ext cx="5185524" cy="166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Create a combined visualization. The eye distinguishes more colours than shades of gray, helping radiologists see subtle density differences.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71061"/>
            <a:ext cx="7892672" cy="28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b="true" sz="1576">
                <a:solidFill>
                  <a:srgbClr val="5CB6F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IMPLEMENTATION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12925" y="1865244"/>
            <a:ext cx="17062150" cy="6556512"/>
            <a:chOff x="0" y="0"/>
            <a:chExt cx="10634456" cy="4086527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10634398" cy="4086540"/>
            </a:xfrm>
            <a:custGeom>
              <a:avLst/>
              <a:gdLst/>
              <a:ahLst/>
              <a:cxnLst/>
              <a:rect r="r" b="b" t="t" l="l"/>
              <a:pathLst>
                <a:path h="4086540" w="10634398">
                  <a:moveTo>
                    <a:pt x="0" y="0"/>
                  </a:moveTo>
                  <a:lnTo>
                    <a:pt x="10634398" y="0"/>
                  </a:lnTo>
                  <a:lnTo>
                    <a:pt x="10634398" y="4086540"/>
                  </a:lnTo>
                  <a:lnTo>
                    <a:pt x="0" y="4086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26" r="0" b="-926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61536"/>
            <a:ext cx="17386744" cy="35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576" spc="94">
                <a:solidFill>
                  <a:srgbClr val="A8380F"/>
                </a:solidFill>
                <a:latin typeface="Arimo"/>
                <a:ea typeface="Arimo"/>
                <a:cs typeface="Arimo"/>
                <a:sym typeface="Arimo"/>
              </a:rPr>
              <a:t>VERIFICATION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34151"/>
            <a:ext cx="16471659" cy="197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5"/>
              </a:lnSpc>
            </a:pPr>
            <a:r>
              <a:rPr lang="en-US" sz="7205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Output verification and four visual 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14002" y="6815005"/>
            <a:ext cx="4572752" cy="2596124"/>
            <a:chOff x="0" y="0"/>
            <a:chExt cx="7117385" cy="4040807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117334" cy="4040870"/>
            </a:xfrm>
            <a:custGeom>
              <a:avLst/>
              <a:gdLst/>
              <a:ahLst/>
              <a:cxnLst/>
              <a:rect r="r" b="b" t="t" l="l"/>
              <a:pathLst>
                <a:path h="4040870" w="7117334">
                  <a:moveTo>
                    <a:pt x="0" y="0"/>
                  </a:moveTo>
                  <a:lnTo>
                    <a:pt x="7117334" y="0"/>
                  </a:lnTo>
                  <a:lnTo>
                    <a:pt x="7117334" y="4040870"/>
                  </a:lnTo>
                  <a:lnTo>
                    <a:pt x="0" y="4040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226" t="-3" r="-4922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85552" y="6823951"/>
            <a:ext cx="2158412" cy="2587178"/>
            <a:chOff x="0" y="0"/>
            <a:chExt cx="2035721" cy="2440114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035683" cy="2440051"/>
            </a:xfrm>
            <a:custGeom>
              <a:avLst/>
              <a:gdLst/>
              <a:ahLst/>
              <a:cxnLst/>
              <a:rect r="r" b="b" t="t" l="l"/>
              <a:pathLst>
                <a:path h="2440051" w="2035683">
                  <a:moveTo>
                    <a:pt x="0" y="0"/>
                  </a:moveTo>
                  <a:lnTo>
                    <a:pt x="2035683" y="0"/>
                  </a:lnTo>
                  <a:lnTo>
                    <a:pt x="2035683" y="2440051"/>
                  </a:lnTo>
                  <a:lnTo>
                    <a:pt x="0" y="2440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t="0" r="-101" b="-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0318" y="328136"/>
            <a:ext cx="15308465" cy="8930164"/>
            <a:chOff x="0" y="0"/>
            <a:chExt cx="4575454" cy="266908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575429" cy="2669032"/>
            </a:xfrm>
            <a:custGeom>
              <a:avLst/>
              <a:gdLst/>
              <a:ahLst/>
              <a:cxnLst/>
              <a:rect r="r" b="b" t="t" l="l"/>
              <a:pathLst>
                <a:path h="2669032" w="4575429">
                  <a:moveTo>
                    <a:pt x="0" y="0"/>
                  </a:moveTo>
                  <a:lnTo>
                    <a:pt x="4575429" y="0"/>
                  </a:lnTo>
                  <a:lnTo>
                    <a:pt x="4575429" y="2669032"/>
                  </a:lnTo>
                  <a:lnTo>
                    <a:pt x="0" y="2669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955132" y="6696614"/>
            <a:ext cx="4653336" cy="2714515"/>
            <a:chOff x="0" y="0"/>
            <a:chExt cx="4575454" cy="266908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4575429" cy="2669032"/>
            </a:xfrm>
            <a:custGeom>
              <a:avLst/>
              <a:gdLst/>
              <a:ahLst/>
              <a:cxnLst/>
              <a:rect r="r" b="b" t="t" l="l"/>
              <a:pathLst>
                <a:path h="2669032" w="4575429">
                  <a:moveTo>
                    <a:pt x="0" y="0"/>
                  </a:moveTo>
                  <a:lnTo>
                    <a:pt x="4575429" y="0"/>
                  </a:lnTo>
                  <a:lnTo>
                    <a:pt x="4575429" y="2669032"/>
                  </a:lnTo>
                  <a:lnTo>
                    <a:pt x="0" y="2669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-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240165" y="6572789"/>
            <a:ext cx="2240399" cy="2685511"/>
          </a:xfrm>
          <a:custGeom>
            <a:avLst/>
            <a:gdLst/>
            <a:ahLst/>
            <a:cxnLst/>
            <a:rect r="r" b="b" t="t" l="l"/>
            <a:pathLst>
              <a:path h="2685511" w="2240399">
                <a:moveTo>
                  <a:pt x="0" y="0"/>
                </a:moveTo>
                <a:lnTo>
                  <a:pt x="2240399" y="0"/>
                </a:lnTo>
                <a:lnTo>
                  <a:pt x="2240399" y="2685511"/>
                </a:lnTo>
                <a:lnTo>
                  <a:pt x="0" y="26855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93186" y="9420654"/>
            <a:ext cx="3774758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Input X-ray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07172" y="9420654"/>
            <a:ext cx="3774758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Inverted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79696" y="9420654"/>
            <a:ext cx="3774758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Inverted pseudocolour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49028" y="9420654"/>
            <a:ext cx="3774758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Pseudocolour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02724" y="6050540"/>
            <a:ext cx="3124068" cy="522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3"/>
              </a:lnSpc>
            </a:pPr>
            <a:r>
              <a:rPr lang="en-US" sz="295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OUTPUT IMAGES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DAHYXxzaopE</dc:identifier>
  <dcterms:modified xsi:type="dcterms:W3CDTF">2011-08-01T06:04:30Z</dcterms:modified>
  <cp:revision>1</cp:revision>
  <dc:title>cleaned_Image-Colour-Inversion-Using-CUDA-C-Programming.pptx</dc:title>
</cp:coreProperties>
</file>