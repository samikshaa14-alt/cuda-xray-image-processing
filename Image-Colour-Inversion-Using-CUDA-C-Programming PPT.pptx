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Hubot Sans"/>
      <p:regular r:id="rId201314"/>
    </p:embeddedFont>
    <p:embeddedFont>
      <p:font typeface="Hubot Sans SemiBold"/>
      <p:regular r:id="rId201315"/>
    </p:embeddedFont>
    <p:embeddedFont>
      <p:font typeface="Hubot Sans Bold"/>
      <p:regular r:id="rId201316"/>
    </p:embeddedFont>
    <p:embeddedFont>
      <p:font typeface="Mozilla Headlin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83D">
              <a:alpha val="52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80319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CUDA C · MEDICAL IMAGE PROCESSING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58937"/>
            <a:ext cx="10972526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Image Colour Inversion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Using CUDA C Programming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4605338"/>
            <a:ext cx="1097252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Parallel implementation of image inversion and pseudocolour mapping for medical radiology.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531336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Every pixel, its own thread: turning grayscale X-rays into enhanced colour views in parallel.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97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What problem does this project solve?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88121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It turns grayscale intensity into visual contrast that is easier to inspect.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216745"/>
            <a:ext cx="5486263" cy="2244427"/>
          </a:xfrm>
          <a:custGeom>
            <a:avLst/>
            <a:gdLst/>
            <a:ahLst/>
            <a:cxnLst/>
            <a:rect l="l" t="t" r="r" b="b"/>
            <a:pathLst>
              <a:path w="5486263" h="2244427">
                <a:moveTo>
                  <a:pt x="62228" y="0"/>
                </a:moveTo>
                <a:lnTo>
                  <a:pt x="5486263" y="0"/>
                </a:lnTo>
                <a:lnTo>
                  <a:pt x="5486263" y="2244427"/>
                </a:lnTo>
                <a:lnTo>
                  <a:pt x="0" y="2244427"/>
                </a:lnTo>
                <a:lnTo>
                  <a:pt x="0" y="62230"/>
                </a:lnTo>
                <a:arcTo hR="62230" wR="62228" stAng="10800000" swAng="5400000"/>
                <a:close/>
              </a:path>
            </a:pathLst>
          </a:custGeom>
          <a:solidFill>
            <a:srgbClr val="D6DDE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38179" y="2445345"/>
            <a:ext cx="546086" cy="546100"/>
          </a:xfrm>
          <a:prstGeom prst="roundRect">
            <a:avLst>
              <a:gd name="adj" fmla="val 9767"/>
            </a:avLst>
          </a:prstGeom>
          <a:solidFill>
            <a:srgbClr val="FF9466"/>
          </a:solidFill>
          <a:ln w="6350">
            <a:solidFill>
              <a:srgbClr val="BCC3CE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76" y="2585045"/>
            <a:ext cx="266693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3137496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Grayscale input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8179" y="3566120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X-rays store intensity from 0 = black to 255 = white.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95848" y="2216745"/>
            <a:ext cx="5486263" cy="2244427"/>
          </a:xfrm>
          <a:custGeom>
            <a:avLst/>
            <a:gdLst/>
            <a:ahLst/>
            <a:cxnLst/>
            <a:rect l="l" t="t" r="r" b="b"/>
            <a:pathLst>
              <a:path w="5486263" h="2244427">
                <a:moveTo>
                  <a:pt x="0" y="0"/>
                </a:moveTo>
                <a:lnTo>
                  <a:pt x="5424034" y="0"/>
                </a:lnTo>
                <a:arcTo hR="62230" wR="62228" stAng="16200000" swAng="5400000"/>
                <a:lnTo>
                  <a:pt x="5486263" y="2244427"/>
                </a:lnTo>
                <a:lnTo>
                  <a:pt x="0" y="2244427"/>
                </a:lnTo>
                <a:lnTo>
                  <a:pt x="0" y="0"/>
                </a:lnTo>
                <a:close/>
              </a:path>
            </a:pathLst>
          </a:custGeom>
          <a:solidFill>
            <a:srgbClr val="D6DDE8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324442" y="2445345"/>
            <a:ext cx="546086" cy="546100"/>
          </a:xfrm>
          <a:prstGeom prst="roundRect">
            <a:avLst>
              <a:gd name="adj" fmla="val 9767"/>
            </a:avLst>
          </a:prstGeom>
          <a:solidFill>
            <a:srgbClr val="FF9466"/>
          </a:solidFill>
          <a:ln w="6350">
            <a:solidFill>
              <a:srgbClr val="BCC3CE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138" y="2585045"/>
            <a:ext cx="266693" cy="266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24442" y="3137496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Invert intensity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24442" y="3566120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Each pixel becomes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45D6B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255 - input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9585" y="4461173"/>
            <a:ext cx="5486263" cy="2244427"/>
          </a:xfrm>
          <a:custGeom>
            <a:avLst/>
            <a:gdLst/>
            <a:ahLst/>
            <a:cxnLst/>
            <a:rect l="l" t="t" r="r" b="b"/>
            <a:pathLst>
              <a:path w="5486263" h="2244427">
                <a:moveTo>
                  <a:pt x="0" y="0"/>
                </a:moveTo>
                <a:lnTo>
                  <a:pt x="5486263" y="0"/>
                </a:lnTo>
                <a:lnTo>
                  <a:pt x="5486263" y="2244427"/>
                </a:lnTo>
                <a:lnTo>
                  <a:pt x="62228" y="2244427"/>
                </a:lnTo>
                <a:arcTo hR="62230" wR="62228" stAng="5400000" swAng="5400000"/>
                <a:lnTo>
                  <a:pt x="0" y="0"/>
                </a:lnTo>
                <a:close/>
              </a:path>
            </a:pathLst>
          </a:custGeom>
          <a:solidFill>
            <a:srgbClr val="D6DDE8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8179" y="4689773"/>
            <a:ext cx="546086" cy="546100"/>
          </a:xfrm>
          <a:prstGeom prst="roundRect">
            <a:avLst>
              <a:gd name="adj" fmla="val 9767"/>
            </a:avLst>
          </a:prstGeom>
          <a:solidFill>
            <a:srgbClr val="FF9466"/>
          </a:solidFill>
          <a:ln w="6350">
            <a:solidFill>
              <a:srgbClr val="BCC3CE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6" y="4829473"/>
            <a:ext cx="266693" cy="2667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79" y="5381923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Pseudocolour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8179" y="5810548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Intensity values map into RGB colours to reveal differences.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095848" y="4461173"/>
            <a:ext cx="5486263" cy="2244427"/>
          </a:xfrm>
          <a:custGeom>
            <a:avLst/>
            <a:gdLst/>
            <a:ahLst/>
            <a:cxnLst/>
            <a:rect l="l" t="t" r="r" b="b"/>
            <a:pathLst>
              <a:path w="5486263" h="2244427">
                <a:moveTo>
                  <a:pt x="0" y="0"/>
                </a:moveTo>
                <a:lnTo>
                  <a:pt x="5486263" y="0"/>
                </a:lnTo>
                <a:lnTo>
                  <a:pt x="5486263" y="2182197"/>
                </a:lnTo>
                <a:arcTo hR="62230" wR="62228" stAng="0" swAng="5400000"/>
                <a:lnTo>
                  <a:pt x="0" y="2244427"/>
                </a:lnTo>
                <a:lnTo>
                  <a:pt x="0" y="0"/>
                </a:lnTo>
                <a:close/>
              </a:path>
            </a:pathLst>
          </a:custGeom>
          <a:solidFill>
            <a:srgbClr val="D6DDE8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324442" y="4737398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FF9466"/>
          </a:solidFill>
          <a:ln w="6350">
            <a:solidFill>
              <a:srgbClr val="BCC3CE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6324442" y="5194598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CUDA workflow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324442" y="5623223"/>
            <a:ext cx="502907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highlight>
                  <a:srgbClr val="DDE0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cudaMalloc()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highlight>
                  <a:srgbClr val="DDE0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cudaMemcpy()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highlight>
                  <a:srgbClr val="DDE0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cudaFree()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highlight>
                  <a:srgbClr val="DDE0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cudaEventRecord()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, and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highlight>
                  <a:srgbClr val="DDE0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cudaEventSynchronize()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089498" y="2216745"/>
            <a:ext cx="12700" cy="22444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09585" y="4454823"/>
            <a:ext cx="5486263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6089498" y="4461173"/>
            <a:ext cx="12700" cy="22444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6095848" y="4454823"/>
            <a:ext cx="5486263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TRANSFORMATION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97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How the image transformation works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797645"/>
            <a:ext cx="2514537" cy="203130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8179" y="2026245"/>
            <a:ext cx="80345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 SemiBold" pitchFamily="34" charset="0"/>
                <a:ea typeface="Hubot Sans SemiBold" pitchFamily="34" charset="-122"/>
                <a:cs typeface="Hubot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8179" y="2275185"/>
            <a:ext cx="2057349" cy="19050"/>
          </a:xfrm>
          <a:prstGeom prst="rect">
            <a:avLst/>
          </a:prstGeom>
          <a:solidFill>
            <a:srgbClr val="FF946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8179" y="2411161"/>
            <a:ext cx="20573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Read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8179" y="2800251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Read the grayscale image as pixel intensity values.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1797645"/>
            <a:ext cx="2514537" cy="203130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509" y="2026245"/>
            <a:ext cx="84254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 SemiBold" pitchFamily="34" charset="0"/>
                <a:ea typeface="Hubot Sans SemiBold" pitchFamily="34" charset="-122"/>
                <a:cs typeface="Hubot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509" y="2275185"/>
            <a:ext cx="2057349" cy="19050"/>
          </a:xfrm>
          <a:prstGeom prst="rect">
            <a:avLst/>
          </a:prstGeom>
          <a:solidFill>
            <a:srgbClr val="FF946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509" y="2411161"/>
            <a:ext cx="20573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Launch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509" y="2800251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Launch a CUDA kernel so threads process pixels independently.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1797645"/>
            <a:ext cx="2514537" cy="203130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76838" y="2026245"/>
            <a:ext cx="843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 SemiBold" pitchFamily="34" charset="0"/>
                <a:ea typeface="Hubot Sans SemiBold" pitchFamily="34" charset="-122"/>
                <a:cs typeface="Hubot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76838" y="2275185"/>
            <a:ext cx="2057349" cy="19050"/>
          </a:xfrm>
          <a:prstGeom prst="rect">
            <a:avLst/>
          </a:prstGeom>
          <a:solidFill>
            <a:srgbClr val="FF946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76838" y="2411161"/>
            <a:ext cx="20573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76838" y="2800251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Create inverted and pseudocolor outputs from the same input.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67573" y="1797645"/>
            <a:ext cx="2514537" cy="203130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96167" y="2026245"/>
            <a:ext cx="85484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 SemiBold" pitchFamily="34" charset="0"/>
                <a:ea typeface="Hubot Sans SemiBold" pitchFamily="34" charset="-122"/>
                <a:cs typeface="Hubot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96167" y="2275185"/>
            <a:ext cx="2057349" cy="19050"/>
          </a:xfrm>
          <a:prstGeom prst="rect">
            <a:avLst/>
          </a:prstGeom>
          <a:solidFill>
            <a:srgbClr val="FF946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96167" y="2411161"/>
            <a:ext cx="20573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Compare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6167" y="2800251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Save multiple visualizations for side-by-side comparison.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585" y="4032151"/>
            <a:ext cx="5333867" cy="1457325"/>
          </a:xfrm>
          <a:prstGeom prst="roundRect">
            <a:avLst>
              <a:gd name="adj" fmla="val 5124"/>
            </a:avLst>
          </a:prstGeom>
          <a:solidFill>
            <a:srgbClr val="DDE0E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8179" y="4263132"/>
            <a:ext cx="51052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CPU LOOP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8179" y="4565551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One pixel after another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179" y="4994176"/>
            <a:ext cx="5105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Pixels are handled sequentially.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48244" y="4032151"/>
            <a:ext cx="5333867" cy="145732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76838" y="4263132"/>
            <a:ext cx="51052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GPU KERNEL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76838" y="4565551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Many pixels at once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76838" y="4994176"/>
            <a:ext cx="5105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Independent pixels are processed in parallel.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WHY CUDA 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97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Why CUDA C is useful here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88121"/>
            <a:ext cx="1097252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Each pixel in a medical image, such as a chest X-ray, holds brightness from 0 (black) to 255 (white). CUDA gives each pixel its own GPU thread.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496145"/>
            <a:ext cx="5257668" cy="195510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38179" y="2727127"/>
            <a:ext cx="50290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SERIAL CPU 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179" y="3036624"/>
            <a:ext cx="480048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One by one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38179" y="3689251"/>
            <a:ext cx="48004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Inversion and colourization wait for each pixel to finish before the next begins.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2" y="2496145"/>
            <a:ext cx="5257668" cy="1955105"/>
          </a:xfrm>
          <a:prstGeom prst="rect">
            <a:avLst/>
          </a:prstGeom>
          <a:solidFill>
            <a:srgbClr val="13283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53036" y="2727127"/>
            <a:ext cx="50290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PARALLEL GPU WORK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53036" y="3036624"/>
            <a:ext cx="480048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All together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53036" y="3689251"/>
            <a:ext cx="48004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Independent pixels are processed simultaneously across the image.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4664717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Invert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585" y="5053806"/>
            <a:ext cx="345431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45D6B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255 - input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creates a negative view.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68691" y="4664717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Colorize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68691" y="5053806"/>
            <a:ext cx="34543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Turn brightness into a blue → green → red heatmap.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797" y="4664717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Combine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27797" y="5053806"/>
            <a:ext cx="345431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Create a combined visualization. The eye distinguishes more colours than shades of gray, helping radiologists see subtle density differences.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52576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IMPLEMENTATION</a:t>
            </a:r>
            <a:endParaRPr lang="en-US" sz="1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482725"/>
            <a:ext cx="4648084" cy="1812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97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Output verification and four visual results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68166"/>
            <a:ext cx="3555911" cy="1016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617516"/>
            <a:ext cx="1017066" cy="12191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585" y="5050082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Input X-ray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14" y="5039816"/>
            <a:ext cx="2285943" cy="1333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8914" y="6586782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Inverted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5039816"/>
            <a:ext cx="2285943" cy="13335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48244" y="6586782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Inverted pseudocolour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9067573" y="6586782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Pseudocolour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2026-10-18T14:59:17Z</dcterms:created>
  <dcterms:modified xsi:type="dcterms:W3CDTF">2026-10-18T14:59:17Z</dcterms:modified>
</cp:coreProperties>
</file>